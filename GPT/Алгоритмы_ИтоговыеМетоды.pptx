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4" r:id="rId3"/>
    <p:sldId id="270" r:id="rId4"/>
    <p:sldId id="272" r:id="rId5"/>
    <p:sldId id="278" r:id="rId6"/>
    <p:sldId id="283" r:id="rId7"/>
    <p:sldId id="277" r:id="rId8"/>
    <p:sldId id="279" r:id="rId9"/>
    <p:sldId id="273" r:id="rId10"/>
    <p:sldId id="274" r:id="rId11"/>
    <p:sldId id="275" r:id="rId12"/>
    <p:sldId id="276" r:id="rId13"/>
    <p:sldId id="265" r:id="rId14"/>
    <p:sldId id="267" r:id="rId15"/>
    <p:sldId id="268" r:id="rId16"/>
    <p:sldId id="269" r:id="rId17"/>
    <p:sldId id="282" r:id="rId18"/>
    <p:sldId id="281" r:id="rId19"/>
    <p:sldId id="280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Раздел по умолчанию" id="{C1BBE244-C83D-4752-AA18-C174485550F8}">
          <p14:sldIdLst>
            <p14:sldId id="256"/>
          </p14:sldIdLst>
        </p14:section>
        <p14:section name="Раздел без заголовка" id="{AF63C7C8-86C6-499B-82F6-2897F31074E8}">
          <p14:sldIdLst>
            <p14:sldId id="261"/>
            <p14:sldId id="258"/>
            <p14:sldId id="262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5E7076"/>
    <a:srgbClr val="A02A1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58" y="-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FF8C7-C57D-4492-855C-AD914604A572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71528-B6E9-4397-B8DB-FB98764CBEE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3910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800" b="1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Подзаголовок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64359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ая страница. БЕЛЫЙ ФОН.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411760" y="188640"/>
            <a:ext cx="6480720" cy="418058"/>
          </a:xfrm>
        </p:spPr>
        <p:txBody>
          <a:bodyPr>
            <a:normAutofit/>
          </a:bodyPr>
          <a:lstStyle>
            <a:lvl1pPr algn="r"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11760" y="1268760"/>
            <a:ext cx="6285384" cy="4525963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2133600" cy="365125"/>
          </a:xfrm>
        </p:spPr>
        <p:txBody>
          <a:bodyPr/>
          <a:lstStyle>
            <a:lvl1pPr algn="l">
              <a:defRPr/>
            </a:lvl1pPr>
          </a:lstStyle>
          <a:p>
            <a:fld id="{33067CA6-2D92-4602-87FB-B81B94BA46B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idx="13" hasCustomPrompt="1"/>
          </p:nvPr>
        </p:nvSpPr>
        <p:spPr>
          <a:xfrm>
            <a:off x="467544" y="1268760"/>
            <a:ext cx="1728192" cy="13681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4" hasCustomPrompt="1"/>
          </p:nvPr>
        </p:nvSpPr>
        <p:spPr>
          <a:xfrm>
            <a:off x="467544" y="2852936"/>
            <a:ext cx="1728192" cy="1296144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9" name="Объект 2"/>
          <p:cNvSpPr>
            <a:spLocks noGrp="1"/>
          </p:cNvSpPr>
          <p:nvPr>
            <p:ph idx="15" hasCustomPrompt="1"/>
          </p:nvPr>
        </p:nvSpPr>
        <p:spPr>
          <a:xfrm>
            <a:off x="467544" y="4365104"/>
            <a:ext cx="1728192" cy="144016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 smtClean="0"/>
              <a:t>фото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6327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. КРАСНЫЙ ФОН.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411760" y="188640"/>
            <a:ext cx="6480720" cy="418058"/>
          </a:xfrm>
        </p:spPr>
        <p:txBody>
          <a:bodyPr>
            <a:normAutofit/>
          </a:bodyPr>
          <a:lstStyle>
            <a:lvl1pPr algn="r"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КОЛОНТИТУЛ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2133600" cy="365125"/>
          </a:xfrm>
        </p:spPr>
        <p:txBody>
          <a:bodyPr/>
          <a:lstStyle>
            <a:lvl1pPr algn="l">
              <a:defRPr/>
            </a:lvl1pPr>
          </a:lstStyle>
          <a:p>
            <a:fld id="{33067CA6-2D92-4602-87FB-B81B94BA46B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3046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ая страница. СЕРЫЙ ФОН.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2411760" y="188640"/>
            <a:ext cx="648072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smtClean="0"/>
              <a:t>КОЛОНТИТУЛ</a:t>
            </a:r>
            <a:endParaRPr lang="ru-RU" sz="3200" dirty="0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2133600" cy="365125"/>
          </a:xfrm>
        </p:spPr>
        <p:txBody>
          <a:bodyPr/>
          <a:lstStyle>
            <a:lvl1pPr algn="l">
              <a:defRPr/>
            </a:lvl1pPr>
          </a:lstStyle>
          <a:p>
            <a:fld id="{33067CA6-2D92-4602-87FB-B81B94BA46B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Объект 2"/>
          <p:cNvSpPr>
            <a:spLocks noGrp="1"/>
          </p:cNvSpPr>
          <p:nvPr>
            <p:ph idx="1"/>
          </p:nvPr>
        </p:nvSpPr>
        <p:spPr>
          <a:xfrm>
            <a:off x="2411760" y="1268760"/>
            <a:ext cx="6285384" cy="4525963"/>
          </a:xfr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16" name="Объект 2"/>
          <p:cNvSpPr>
            <a:spLocks noGrp="1"/>
          </p:cNvSpPr>
          <p:nvPr>
            <p:ph idx="13" hasCustomPrompt="1"/>
          </p:nvPr>
        </p:nvSpPr>
        <p:spPr>
          <a:xfrm>
            <a:off x="467544" y="1268760"/>
            <a:ext cx="1728192" cy="136815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17" name="Объект 2"/>
          <p:cNvSpPr>
            <a:spLocks noGrp="1"/>
          </p:cNvSpPr>
          <p:nvPr>
            <p:ph idx="14" hasCustomPrompt="1"/>
          </p:nvPr>
        </p:nvSpPr>
        <p:spPr>
          <a:xfrm>
            <a:off x="467544" y="2852936"/>
            <a:ext cx="1728192" cy="12961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 smtClean="0"/>
              <a:t>фото</a:t>
            </a:r>
            <a:endParaRPr lang="ru-RU" dirty="0"/>
          </a:p>
        </p:txBody>
      </p:sp>
      <p:sp>
        <p:nvSpPr>
          <p:cNvPr id="18" name="Объект 2"/>
          <p:cNvSpPr>
            <a:spLocks noGrp="1"/>
          </p:cNvSpPr>
          <p:nvPr>
            <p:ph idx="15" hasCustomPrompt="1"/>
          </p:nvPr>
        </p:nvSpPr>
        <p:spPr>
          <a:xfrm>
            <a:off x="467544" y="4365104"/>
            <a:ext cx="1728192" cy="144016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 smtClean="0"/>
              <a:t>фото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3670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85293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Санкт-Петербургский</a:t>
            </a:r>
            <a:br>
              <a:rPr lang="ru-RU" dirty="0" smtClean="0"/>
            </a:br>
            <a:r>
              <a:rPr lang="ru-RU" dirty="0" smtClean="0"/>
              <a:t>государственный университет</a:t>
            </a:r>
            <a:br>
              <a:rPr lang="ru-RU" dirty="0" smtClean="0"/>
            </a:br>
            <a:r>
              <a:rPr lang="ru-RU" dirty="0" smtClean="0"/>
              <a:t>2016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51956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7935A-E16E-4B6D-89BB-CEE100CDDA09}" type="datetime1">
              <a:rPr lang="ru-RU" smtClean="0"/>
              <a:pPr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67CA6-2D92-4602-87FB-B81B94BA46B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0755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000" dirty="0" smtClean="0"/>
              <a:t>Стоимость резервирования электроэнергии.</a:t>
            </a:r>
            <a:br>
              <a:rPr lang="ru-RU" sz="3000" dirty="0" smtClean="0"/>
            </a:br>
            <a:r>
              <a:rPr lang="ru-RU" sz="3000" dirty="0" smtClean="0"/>
              <a:t>Итоговые методы решения задачи</a:t>
            </a:r>
            <a:endParaRPr lang="ru-RU" sz="3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5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Лукьянова Полина, Романов Арсений, Пахнушева Алена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976089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Цель и задачи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20" y="928670"/>
            <a:ext cx="8572560" cy="52864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b="1" dirty="0" smtClean="0"/>
              <a:t>Цель работы: </a:t>
            </a:r>
          </a:p>
          <a:p>
            <a:pPr marL="0" indent="0">
              <a:buNone/>
            </a:pPr>
            <a:r>
              <a:rPr lang="ru-RU" sz="1700" dirty="0" smtClean="0"/>
              <a:t>Оценить экономическую эффективность замены резервного дизель-генератора на солнечную станцию с аккумулятором для удалённого телеком-узла с учётом технических параметров системы и влияния на надёжность энергоснабжения.</a:t>
            </a:r>
            <a:endParaRPr lang="ru-RU" sz="1700" dirty="0"/>
          </a:p>
          <a:p>
            <a:pPr marL="0" indent="0">
              <a:buNone/>
            </a:pPr>
            <a:r>
              <a:rPr lang="ru-RU" sz="1700" b="1" dirty="0" smtClean="0"/>
              <a:t>Задачи:</a:t>
            </a:r>
          </a:p>
          <a:p>
            <a:pPr indent="-252000"/>
            <a:r>
              <a:rPr lang="ru-RU" sz="1700" dirty="0" smtClean="0"/>
              <a:t>Выполнить технический расчёт гибридной системы: определить нагрузку, параметры солнечной части, роль аккумулятора и резервного генератора.</a:t>
            </a:r>
          </a:p>
          <a:p>
            <a:pPr indent="-252000"/>
            <a:r>
              <a:rPr lang="ru-RU" sz="1700" dirty="0" smtClean="0"/>
              <a:t>Реализовать почасовую модель солнечной генерации и энергетического баланса системы по данным о погоде для выбранной местности.</a:t>
            </a:r>
          </a:p>
          <a:p>
            <a:pPr indent="-252000"/>
            <a:r>
              <a:rPr lang="ru-RU" sz="1700" dirty="0" smtClean="0"/>
              <a:t>Оценить, какую часть нагрузки покрывает солнечная станция, сколько энергии накапливает аккумулятор и сколько энергии остаётся на дизель.</a:t>
            </a:r>
          </a:p>
          <a:p>
            <a:pPr indent="-252000"/>
            <a:r>
              <a:rPr lang="ru-RU" sz="1700" dirty="0" smtClean="0"/>
              <a:t>Сравнить базовую схему с холодным резервом и гибридную схему по надёжности, оценить риски и потери.</a:t>
            </a:r>
          </a:p>
          <a:p>
            <a:pPr indent="-252000"/>
            <a:r>
              <a:rPr lang="ru-RU" sz="1700" dirty="0" smtClean="0"/>
              <a:t>Построить денежные потоки проекта и рассчитать показатели экономической эффективности: NPV, PI, IRR и DPP.</a:t>
            </a:r>
          </a:p>
          <a:p>
            <a:pPr indent="-252000"/>
            <a:r>
              <a:rPr lang="ru-RU" sz="1700" dirty="0" smtClean="0"/>
              <a:t>Сформулировать вывод о целесообразности замены резервного дизеля на солнечную станцию с аккумулятором.</a:t>
            </a:r>
          </a:p>
          <a:p>
            <a:pPr marL="457200" indent="-457200">
              <a:buNone/>
            </a:pPr>
            <a:endParaRPr lang="ru-RU" sz="1700" b="1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2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1760" y="188640"/>
            <a:ext cx="6589396" cy="418058"/>
          </a:xfrm>
        </p:spPr>
        <p:txBody>
          <a:bodyPr>
            <a:noAutofit/>
          </a:bodyPr>
          <a:lstStyle/>
          <a:p>
            <a:r>
              <a:rPr lang="ru-RU" sz="2750" dirty="0" smtClean="0"/>
              <a:t>Метод технического расчёта гибридной системы энергоснабжения</a:t>
            </a:r>
            <a:endParaRPr lang="ru-RU" sz="275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928670"/>
            <a:ext cx="8197110" cy="5143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700" b="1" dirty="0" smtClean="0"/>
              <a:t>Источник №11: </a:t>
            </a:r>
            <a:r>
              <a:rPr lang="ru-RU" sz="1700" dirty="0" smtClean="0"/>
              <a:t>Гибридная система энергообеспечения малой мощности.</a:t>
            </a:r>
            <a:endParaRPr lang="ru-RU" sz="1700" b="1" dirty="0" smtClean="0"/>
          </a:p>
          <a:p>
            <a:pPr marL="0" indent="0">
              <a:buNone/>
            </a:pPr>
            <a:r>
              <a:rPr lang="ru-RU" sz="1700" b="1" dirty="0" smtClean="0"/>
              <a:t>Используется инженерный метод расчёта гибридной системы энергоснабжения, при котором система рассматривается как совокупность взаимосвязанных элементов:</a:t>
            </a:r>
          </a:p>
          <a:p>
            <a:pPr marL="0" indent="-252000"/>
            <a:r>
              <a:rPr lang="ru-RU" sz="1700" dirty="0" smtClean="0"/>
              <a:t> Нагрузка потребителя</a:t>
            </a:r>
          </a:p>
          <a:p>
            <a:pPr marL="0" indent="-252000"/>
            <a:r>
              <a:rPr lang="ru-RU" sz="1700" dirty="0" smtClean="0"/>
              <a:t> Солнечная генерация</a:t>
            </a:r>
          </a:p>
          <a:p>
            <a:pPr marL="0" indent="-252000"/>
            <a:r>
              <a:rPr lang="ru-RU" sz="1700" dirty="0" smtClean="0"/>
              <a:t> Аккумуляторная батарея</a:t>
            </a:r>
          </a:p>
          <a:p>
            <a:pPr marL="0" indent="-252000"/>
            <a:r>
              <a:rPr lang="ru-RU" sz="1700" dirty="0" smtClean="0"/>
              <a:t> Резервный источник энергии</a:t>
            </a:r>
          </a:p>
          <a:p>
            <a:pPr marL="0" indent="-252000">
              <a:buNone/>
            </a:pPr>
            <a:r>
              <a:rPr lang="ru-RU" sz="1700" b="1" dirty="0" smtClean="0"/>
              <a:t>Метод основан на последовательном учёте параметров системы</a:t>
            </a:r>
            <a:r>
              <a:rPr lang="ru-RU" sz="1700" dirty="0" smtClean="0"/>
              <a:t>:</a:t>
            </a:r>
          </a:p>
          <a:p>
            <a:pPr marL="0" indent="-252000"/>
            <a:r>
              <a:rPr lang="ru-RU" sz="1700" dirty="0" smtClean="0"/>
              <a:t> Определение потребляемой мощности и энергии</a:t>
            </a:r>
          </a:p>
          <a:p>
            <a:pPr marL="0" indent="-252000"/>
            <a:r>
              <a:rPr lang="ru-RU" sz="1700" dirty="0" smtClean="0"/>
              <a:t> Предварительная оценка параметров солнечной части (оценка требуемой установленной мощности, учёт среднегодовой инсоляции)</a:t>
            </a:r>
          </a:p>
          <a:p>
            <a:pPr marL="0" indent="-252000"/>
            <a:r>
              <a:rPr lang="ru-RU" sz="1700" dirty="0" smtClean="0"/>
              <a:t> Учёт роли резервного генератора</a:t>
            </a:r>
          </a:p>
          <a:p>
            <a:pPr marL="0" indent="0">
              <a:buNone/>
            </a:pPr>
            <a:r>
              <a:rPr lang="ru-RU" sz="1700" b="1" dirty="0" smtClean="0"/>
              <a:t>Метод позволяет:</a:t>
            </a:r>
          </a:p>
          <a:p>
            <a:pPr marL="0" indent="-252000"/>
            <a:r>
              <a:rPr lang="ru-RU" sz="1700" dirty="0" smtClean="0"/>
              <a:t> Определить, какие параметры необходимо учитывать в расчёте</a:t>
            </a:r>
          </a:p>
          <a:p>
            <a:pPr marL="0" indent="-252000"/>
            <a:r>
              <a:rPr lang="ru-RU" sz="1700" dirty="0" smtClean="0"/>
              <a:t> Установить связь между нагрузкой, генерацией, аккумулятором и резервом</a:t>
            </a:r>
          </a:p>
          <a:p>
            <a:pPr marL="0" indent="-252000"/>
            <a:r>
              <a:rPr lang="ru-RU" sz="1700" dirty="0" smtClean="0"/>
              <a:t> Обосновать структуру гибридной системы энергоснабжения</a:t>
            </a:r>
            <a:endParaRPr lang="ru-RU" sz="17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3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Сравнение с альтернативными техническими методами</a:t>
            </a:r>
            <a:endParaRPr lang="ru-RU" sz="2800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33" y="857232"/>
          <a:ext cx="9143967" cy="5572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3141"/>
                <a:gridCol w="2143140"/>
                <a:gridCol w="2143140"/>
                <a:gridCol w="2214546"/>
              </a:tblGrid>
              <a:tr h="51922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Источник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Описание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Плюсы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Минусы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</a:tr>
              <a:tr h="1016223"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№4:</a:t>
                      </a:r>
                      <a:r>
                        <a:rPr lang="ru-RU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Экономические аспекты перехода на возобновляемые источники энергии: анализ затрат и выгод, влияние на рынок электроэнергии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Общие плюсы и минусы солнечной энергетики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Хорошо для </a:t>
                      </a:r>
                      <a:r>
                        <a:rPr lang="ru-RU" sz="1200" dirty="0" smtClean="0">
                          <a:latin typeface="+mn-lt"/>
                        </a:rPr>
                        <a:t>введения.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Даёт общее понимание структуры затрат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 содержит расчётного метода для гибридной системы</a:t>
                      </a:r>
                      <a:r>
                        <a:rPr lang="ru-RU" sz="1200" dirty="0" smtClean="0">
                          <a:latin typeface="+mn-lt"/>
                        </a:rPr>
                        <a:t>, обзорный характер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</a:tr>
              <a:tr h="872204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latin typeface="+mn-lt"/>
                        </a:rPr>
                        <a:t>№</a:t>
                      </a:r>
                      <a:r>
                        <a:rPr lang="ru-RU" sz="1200" b="0" i="0" u="none" strike="noStrike" kern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9: Сколько электроэнергии генерирует солнечная панель</a:t>
                      </a:r>
                      <a:endParaRPr lang="ru-RU" sz="1200" b="0" i="0" u="none" strike="noStrike" kern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latin typeface="+mn-lt"/>
                        </a:rPr>
                        <a:t>Общие плюсы и минусы солнечной энергетики</a:t>
                      </a:r>
                      <a:endParaRPr lang="ru-RU" sz="1200" b="0" i="0" u="none" strike="noStrike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latin typeface="+mn-lt"/>
                        </a:rPr>
                        <a:t>Помогает понять предмет на базовом уровне</a:t>
                      </a:r>
                      <a:endParaRPr lang="ru-RU" sz="1200" b="0" i="0" u="none" strike="noStrike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Нет почасовой модели или методики расчёта для года.</a:t>
                      </a:r>
                      <a:r>
                        <a:rPr lang="ru-RU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 учитывает работу гибридной системы</a:t>
                      </a:r>
                      <a:endParaRPr lang="ru-RU" sz="1200" b="0" i="0" u="none" strike="noStrike" dirty="0">
                        <a:latin typeface="+mn-lt"/>
                      </a:endParaRPr>
                    </a:p>
                  </a:txBody>
                  <a:tcPr anchor="ctr"/>
                </a:tc>
              </a:tr>
              <a:tr h="876684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latin typeface="+mn-lt"/>
                        </a:rPr>
                        <a:t>№</a:t>
                      </a:r>
                      <a:r>
                        <a:rPr lang="ru-RU" sz="1200" b="0" i="0" u="none" strike="noStrike" kern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11: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Гибридная система энергообеспечения малой мощности</a:t>
                      </a:r>
                      <a:endParaRPr lang="ru-RU" sz="1200" b="0" i="0" u="none" strike="noStrike" kern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latin typeface="+mn-lt"/>
                        </a:rPr>
                        <a:t>Даёт структуру гибридной системы: нагрузка, АКБ, резерв, солнечная часть</a:t>
                      </a:r>
                      <a:endParaRPr lang="ru-RU" sz="1200" b="0" i="0" u="none" strike="noStrike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Полноценная инженерная</a:t>
                      </a:r>
                      <a:r>
                        <a:rPr lang="ru-RU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структура гибридной системы</a:t>
                      </a:r>
                      <a:endParaRPr lang="ru-RU" sz="1200" b="0" i="0" u="none" strike="noStrike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>
                          <a:solidFill>
                            <a:schemeClr val="tx1"/>
                          </a:solidFill>
                          <a:latin typeface="+mn-lt"/>
                        </a:rPr>
                        <a:t>Нет детальной почасовой модели солнца</a:t>
                      </a:r>
                      <a:endParaRPr lang="ru-RU" sz="1200" b="0" i="0" u="none" strike="noStrike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202292"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№12: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Зарубежный и отечественный опыт повышения </a:t>
                      </a:r>
                      <a:r>
                        <a:rPr lang="ru-RU" sz="120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энергоэффективности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на базе гибридных энергетических установок в изолированных территориях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Обзор гибридных установок для изолированных территорий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Тематически </a:t>
                      </a:r>
                      <a:r>
                        <a:rPr lang="ru-RU" sz="1200" dirty="0" smtClean="0">
                          <a:latin typeface="+mn-lt"/>
                        </a:rPr>
                        <a:t>близок</a:t>
                      </a:r>
                      <a:r>
                        <a:rPr lang="ru-RU" sz="1200" baseline="0" dirty="0" smtClean="0">
                          <a:latin typeface="+mn-lt"/>
                        </a:rPr>
                        <a:t> к задаче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Во многом дублирует №</a:t>
                      </a:r>
                      <a:r>
                        <a:rPr lang="ru-RU" sz="1200" dirty="0" smtClean="0">
                          <a:latin typeface="+mn-lt"/>
                        </a:rPr>
                        <a:t>11.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 добавляет нового расчётного аппарата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anchor="ctr"/>
                </a:tc>
              </a:tr>
              <a:tr h="1085537"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№8: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Расход топлива дизельной электростанции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Расход топлива дизельной электростанции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Полезен по одному параметру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>
                          <a:latin typeface="+mn-lt"/>
                        </a:rPr>
                        <a:t>Не описывает всю </a:t>
                      </a:r>
                      <a:r>
                        <a:rPr lang="ru-RU" sz="1200" dirty="0" smtClean="0">
                          <a:latin typeface="+mn-lt"/>
                        </a:rPr>
                        <a:t>систему.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Закрывает только частный вопрос расхода топлива</a:t>
                      </a:r>
                      <a:endParaRPr lang="ru-RU" sz="1200" dirty="0">
                        <a:latin typeface="+mn-lt"/>
                      </a:endParaRPr>
                    </a:p>
                  </a:txBody>
                  <a:tcPr marB="182880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4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База данных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857232"/>
            <a:ext cx="8197110" cy="5143536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None/>
            </a:pPr>
            <a:r>
              <a:rPr lang="ru-RU" sz="1500" b="1" dirty="0" smtClean="0"/>
              <a:t>База метеоданных: </a:t>
            </a:r>
            <a:r>
              <a:rPr lang="ru-RU" sz="1500" dirty="0" err="1" smtClean="0"/>
              <a:t>Open-Meteo</a:t>
            </a:r>
            <a:r>
              <a:rPr lang="ru-RU" sz="1500" dirty="0" smtClean="0"/>
              <a:t> </a:t>
            </a:r>
            <a:r>
              <a:rPr lang="ru-RU" sz="1500" dirty="0" err="1" smtClean="0"/>
              <a:t>Historical</a:t>
            </a:r>
            <a:r>
              <a:rPr lang="ru-RU" sz="1500" dirty="0" smtClean="0"/>
              <a:t> API</a:t>
            </a:r>
          </a:p>
          <a:p>
            <a:pPr>
              <a:spcBef>
                <a:spcPts val="300"/>
              </a:spcBef>
              <a:buNone/>
            </a:pPr>
            <a:r>
              <a:rPr lang="ru-RU" sz="1500" b="1" dirty="0" smtClean="0"/>
              <a:t>Причины выбора: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Почасовые исторические данные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Доступ по координатам (для выбранной точки)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Наличие солнечных параметров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Возможность автоматической загрузки через API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Достаточная точность (~9 км 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u-RU" sz="1500" b="1" dirty="0" smtClean="0"/>
              <a:t>Используемые параметры: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Время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GTI – суммарная </a:t>
            </a:r>
            <a:r>
              <a:rPr lang="ru-RU" sz="1500" dirty="0" smtClean="0"/>
              <a:t>радиация, </a:t>
            </a:r>
            <a:r>
              <a:rPr lang="ru-RU" sz="1500" dirty="0" smtClean="0"/>
              <a:t>которая падает на наклонную поверхность, учитывает угол наклона и ориентацию панели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Температура воздуха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Облачность 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Скорость ветра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GHI</a:t>
            </a:r>
            <a:r>
              <a:rPr lang="en-US" sz="1500" dirty="0" smtClean="0"/>
              <a:t> (Global Horizontal Irradiance)</a:t>
            </a:r>
            <a:r>
              <a:rPr lang="ru-RU" sz="1500" dirty="0" smtClean="0"/>
              <a:t> – суммарное солнечное излучение на горизонтальную поверхность.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DNI </a:t>
            </a:r>
            <a:r>
              <a:rPr lang="en-US" sz="1500" dirty="0" smtClean="0"/>
              <a:t>(Direct Normal Irradiance) </a:t>
            </a:r>
            <a:r>
              <a:rPr lang="ru-RU" sz="1500" dirty="0" smtClean="0"/>
              <a:t>– прямые солнечные лучи на поверхность, перпендикулярную лучам солнца.</a:t>
            </a:r>
          </a:p>
          <a:p>
            <a:pPr>
              <a:spcBef>
                <a:spcPts val="300"/>
              </a:spcBef>
            </a:pPr>
            <a:r>
              <a:rPr lang="ru-RU" sz="1500" dirty="0" smtClean="0"/>
              <a:t>DHI </a:t>
            </a:r>
            <a:r>
              <a:rPr lang="en-US" sz="1500" dirty="0" smtClean="0"/>
              <a:t>(Diffuse Horizontal Irradiance)</a:t>
            </a:r>
            <a:r>
              <a:rPr lang="ru-RU" sz="1500" dirty="0" smtClean="0"/>
              <a:t> – рассеянная радиация на горизонтальную поверхность</a:t>
            </a:r>
          </a:p>
          <a:p>
            <a:pPr>
              <a:spcBef>
                <a:spcPts val="300"/>
              </a:spcBef>
              <a:buNone/>
            </a:pPr>
            <a:r>
              <a:rPr lang="ru-RU" sz="1500" dirty="0" smtClean="0"/>
              <a:t>GHI / DNI / DHI используются для проверки и валидации расчёта солнечной генерации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5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Обработка данных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00108"/>
            <a:ext cx="8197110" cy="5000660"/>
          </a:xfrm>
        </p:spPr>
        <p:txBody>
          <a:bodyPr>
            <a:noAutofit/>
          </a:bodyPr>
          <a:lstStyle/>
          <a:p>
            <a:r>
              <a:rPr lang="ru-RU" sz="2000" b="1" dirty="0" smtClean="0"/>
              <a:t>Пропуски в данных</a:t>
            </a:r>
            <a:r>
              <a:rPr lang="ru-RU" sz="2000" dirty="0" smtClean="0"/>
              <a:t> </a:t>
            </a:r>
            <a:br>
              <a:rPr lang="ru-RU" sz="2000" dirty="0" smtClean="0"/>
            </a:br>
            <a:r>
              <a:rPr lang="ru-RU" sz="2000" dirty="0" smtClean="0"/>
              <a:t>Восстанавливаются сплайн-интерполяцией соседних значений или</a:t>
            </a:r>
            <a:r>
              <a:rPr lang="ru-RU" sz="2000" dirty="0" smtClean="0"/>
              <a:t>, в случае длительных пропусков, </a:t>
            </a:r>
            <a:r>
              <a:rPr lang="en-US" sz="2000" dirty="0" smtClean="0"/>
              <a:t>Z-</a:t>
            </a:r>
            <a:r>
              <a:rPr lang="ru-RU" sz="2000" dirty="0" smtClean="0"/>
              <a:t>алгоритмом</a:t>
            </a:r>
            <a:endParaRPr lang="ru-RU" sz="2000" dirty="0" smtClean="0"/>
          </a:p>
          <a:p>
            <a:r>
              <a:rPr lang="ru-RU" sz="2000" b="1" dirty="0" smtClean="0"/>
              <a:t>Выбросы</a:t>
            </a:r>
            <a:r>
              <a:rPr lang="ru-RU" sz="2000" dirty="0" smtClean="0"/>
              <a:t> </a:t>
            </a:r>
            <a:br>
              <a:rPr lang="ru-RU" sz="2000" dirty="0" smtClean="0"/>
            </a:br>
            <a:r>
              <a:rPr lang="ru-RU" sz="2000" dirty="0" smtClean="0"/>
              <a:t>Выявляются </a:t>
            </a:r>
            <a:r>
              <a:rPr lang="ru-RU" sz="2000" dirty="0" smtClean="0"/>
              <a:t>через </a:t>
            </a:r>
            <a:r>
              <a:rPr lang="ru-RU" sz="2000" dirty="0" err="1" smtClean="0"/>
              <a:t>валидацию</a:t>
            </a:r>
            <a:r>
              <a:rPr lang="ru-RU" sz="2000" dirty="0" smtClean="0"/>
              <a:t> значений,  методом </a:t>
            </a:r>
            <a:r>
              <a:rPr lang="ru-RU" sz="2000" dirty="0" err="1" smtClean="0"/>
              <a:t>межквартильного</a:t>
            </a:r>
            <a:r>
              <a:rPr lang="ru-RU" sz="2000" dirty="0" smtClean="0"/>
              <a:t> размаха</a:t>
            </a:r>
            <a:r>
              <a:rPr lang="ru-RU" sz="2000" dirty="0" smtClean="0"/>
              <a:t>, методом изолирующего леса</a:t>
            </a:r>
            <a:endParaRPr lang="ru-RU" sz="2000" dirty="0" smtClean="0"/>
          </a:p>
          <a:p>
            <a:r>
              <a:rPr lang="ru-RU" sz="2000" b="1" dirty="0" smtClean="0"/>
              <a:t>Контроль качества</a:t>
            </a:r>
            <a:r>
              <a:rPr lang="ru-RU" sz="2000" dirty="0" smtClean="0"/>
              <a:t> </a:t>
            </a:r>
            <a:br>
              <a:rPr lang="ru-RU" sz="2000" dirty="0" smtClean="0"/>
            </a:br>
            <a:r>
              <a:rPr lang="ru-RU" sz="2000" dirty="0" smtClean="0"/>
              <a:t> Уровень 1. Контроль структуры данных </a:t>
            </a:r>
            <a:br>
              <a:rPr lang="ru-RU" sz="2000" dirty="0" smtClean="0"/>
            </a:br>
            <a:r>
              <a:rPr lang="ru-RU" sz="2000" dirty="0" smtClean="0"/>
              <a:t>Уровень </a:t>
            </a:r>
            <a:r>
              <a:rPr lang="ru-RU" sz="2000" dirty="0" smtClean="0"/>
              <a:t>2. Контроль физических ограничений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Уровень </a:t>
            </a:r>
            <a:r>
              <a:rPr lang="ru-RU" sz="2000" dirty="0" smtClean="0"/>
              <a:t>3. Контроль </a:t>
            </a:r>
            <a:r>
              <a:rPr lang="ru-RU" sz="2000" dirty="0" err="1" smtClean="0"/>
              <a:t>межпризнаковых</a:t>
            </a:r>
            <a:r>
              <a:rPr lang="ru-RU" sz="2000" dirty="0" smtClean="0"/>
              <a:t> связей </a:t>
            </a: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6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Метод почасового расчёта солнечной генерации и энергобаланса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928670"/>
            <a:ext cx="8197110" cy="5143536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ru-RU" sz="1600" b="1" dirty="0" smtClean="0"/>
              <a:t>Источник №16: </a:t>
            </a:r>
            <a:r>
              <a:rPr lang="en-US" sz="1600" dirty="0" smtClean="0"/>
              <a:t>NREL </a:t>
            </a:r>
            <a:r>
              <a:rPr lang="en-US" sz="1600" dirty="0" err="1" smtClean="0"/>
              <a:t>PVWatts</a:t>
            </a:r>
            <a:r>
              <a:rPr lang="en-US" sz="1600" dirty="0" smtClean="0"/>
              <a:t> Version 5 Manual</a:t>
            </a:r>
            <a:endParaRPr lang="ru-RU" sz="1600" b="1" dirty="0" smtClean="0"/>
          </a:p>
          <a:p>
            <a:pPr marL="0" indent="0">
              <a:spcBef>
                <a:spcPts val="400"/>
              </a:spcBef>
              <a:buNone/>
            </a:pPr>
            <a:r>
              <a:rPr lang="ru-RU" sz="1600" b="1" dirty="0" smtClean="0"/>
              <a:t> Используется комбинированный метод, позволяет определить: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На основе почасового расчёта солнечной генерации:</a:t>
            </a:r>
          </a:p>
          <a:p>
            <a:pPr marL="0" lvl="1" indent="0">
              <a:spcBef>
                <a:spcPts val="400"/>
              </a:spcBef>
              <a:buNone/>
            </a:pPr>
            <a:r>
              <a:rPr lang="ru-RU" sz="1600" dirty="0" smtClean="0"/>
              <a:t>    </a:t>
            </a:r>
            <a:r>
              <a:rPr lang="ru-RU" sz="1600" b="1" dirty="0" smtClean="0"/>
              <a:t>–</a:t>
            </a:r>
            <a:r>
              <a:rPr lang="ru-RU" sz="1600" dirty="0" smtClean="0"/>
              <a:t> реальную выработку солнечной системы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На основе собственной модели энергобаланса:</a:t>
            </a:r>
          </a:p>
          <a:p>
            <a:pPr marL="180000" lvl="1" indent="0">
              <a:spcBef>
                <a:spcPts val="400"/>
              </a:spcBef>
            </a:pPr>
            <a:r>
              <a:rPr lang="ru-RU" sz="1600" dirty="0" smtClean="0"/>
              <a:t> долю покрытия нагрузки солнечной генерацией</a:t>
            </a:r>
          </a:p>
          <a:p>
            <a:pPr marL="180000" lvl="1" indent="0">
              <a:spcBef>
                <a:spcPts val="400"/>
              </a:spcBef>
            </a:pPr>
            <a:r>
              <a:rPr lang="ru-RU" sz="1600" dirty="0" smtClean="0"/>
              <a:t> объём энергии, накопленной в аккумуляторе</a:t>
            </a:r>
          </a:p>
          <a:p>
            <a:pPr marL="180000" lvl="1" indent="0">
              <a:spcBef>
                <a:spcPts val="400"/>
              </a:spcBef>
            </a:pPr>
            <a:r>
              <a:rPr lang="ru-RU" sz="1600" dirty="0" smtClean="0"/>
              <a:t> долю нагрузки, покрываемую дизелем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600" b="1" dirty="0" smtClean="0"/>
              <a:t>Метод позволяет определить: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Реальную выработку солнечной системы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Долю покрытия нагрузки солнечной генерацией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Объём энергии, накопленной в аккумуляторе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Долю нагрузки, которую продолжает покрывать дизель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ru-RU" sz="1600" b="1" dirty="0" smtClean="0"/>
              <a:t>На основе интеграции результатов: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Годовая выработка солнечной энергии;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Экономия топлива дизеля;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Режим работы аккумулятора;</a:t>
            </a:r>
          </a:p>
          <a:p>
            <a:pPr marL="0" indent="0">
              <a:spcBef>
                <a:spcPts val="400"/>
              </a:spcBef>
            </a:pPr>
            <a:r>
              <a:rPr lang="ru-RU" sz="1600" dirty="0" smtClean="0"/>
              <a:t> Нагрузка на резервный источник.</a:t>
            </a:r>
            <a:endParaRPr lang="ru-RU" sz="1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7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71546"/>
            <a:ext cx="8197110" cy="51435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dirty="0" smtClean="0"/>
              <a:t>Мощность солнечной генерации в момент времени </a:t>
            </a:r>
            <a:r>
              <a:rPr lang="ru-RU" sz="2000" b="1" i="1" dirty="0" err="1" smtClean="0"/>
              <a:t>t</a:t>
            </a:r>
            <a:endParaRPr lang="ru-RU" sz="2000" b="1" i="1" dirty="0" smtClean="0"/>
          </a:p>
          <a:p>
            <a:pPr>
              <a:buNone/>
            </a:pPr>
            <a:endParaRPr lang="ru-RU" sz="2000" b="1" i="1" dirty="0" smtClean="0"/>
          </a:p>
          <a:p>
            <a:pPr>
              <a:buNone/>
            </a:pPr>
            <a:endParaRPr lang="ru-RU" sz="2000" b="1" i="1" dirty="0" smtClean="0"/>
          </a:p>
          <a:p>
            <a:pPr>
              <a:buNone/>
            </a:pPr>
            <a:r>
              <a:rPr lang="ru-RU" sz="2000" dirty="0" smtClean="0"/>
              <a:t>где             – номинальная мощность массива панелей,</a:t>
            </a:r>
          </a:p>
          <a:p>
            <a:pPr>
              <a:buNone/>
            </a:pPr>
            <a:r>
              <a:rPr lang="ru-RU" sz="2000" dirty="0" smtClean="0"/>
              <a:t>           –  радиация в час </a:t>
            </a:r>
            <a:r>
              <a:rPr lang="en-US" sz="2000" i="1" dirty="0" smtClean="0"/>
              <a:t>t</a:t>
            </a:r>
            <a:r>
              <a:rPr lang="ru-RU" sz="2000" dirty="0" smtClean="0"/>
              <a:t>,</a:t>
            </a:r>
          </a:p>
          <a:p>
            <a:pPr>
              <a:buNone/>
            </a:pPr>
            <a:r>
              <a:rPr lang="ru-RU" sz="2000" i="1" dirty="0" smtClean="0"/>
              <a:t>      </a:t>
            </a:r>
            <a:r>
              <a:rPr lang="ru-RU" sz="2000" dirty="0" smtClean="0"/>
              <a:t>– коэффициент эффективности с температурной поправкой.</a:t>
            </a:r>
          </a:p>
          <a:p>
            <a:pPr>
              <a:buNone/>
            </a:pPr>
            <a:r>
              <a:rPr lang="ru-RU" sz="2000" b="1" dirty="0" smtClean="0"/>
              <a:t>Критерии:</a:t>
            </a:r>
          </a:p>
          <a:p>
            <a:pPr>
              <a:buNone/>
            </a:pPr>
            <a:r>
              <a:rPr lang="ru-RU" sz="2000" dirty="0" smtClean="0"/>
              <a:t>                        -</a:t>
            </a:r>
            <a:r>
              <a:rPr lang="en-US" sz="2000" dirty="0" smtClean="0"/>
              <a:t>&gt; </a:t>
            </a:r>
            <a:r>
              <a:rPr lang="ru-RU" sz="2000" dirty="0" smtClean="0"/>
              <a:t>избыток идет в АКБ,</a:t>
            </a:r>
          </a:p>
          <a:p>
            <a:pPr>
              <a:buNone/>
            </a:pPr>
            <a:r>
              <a:rPr lang="ru-RU" sz="2000" dirty="0" smtClean="0"/>
              <a:t>                        -</a:t>
            </a:r>
            <a:r>
              <a:rPr lang="en-US" sz="2000" dirty="0" smtClean="0"/>
              <a:t>&gt; </a:t>
            </a:r>
            <a:r>
              <a:rPr lang="ru-RU" sz="2000" dirty="0" smtClean="0"/>
              <a:t>дефицит покрывается АКБ,</a:t>
            </a:r>
          </a:p>
          <a:p>
            <a:pPr>
              <a:buNone/>
            </a:pPr>
            <a:r>
              <a:rPr lang="ru-RU" sz="2000" dirty="0" smtClean="0"/>
              <a:t>Энергии АКБ недостаточно -</a:t>
            </a:r>
            <a:r>
              <a:rPr lang="en-US" sz="2000" dirty="0" smtClean="0"/>
              <a:t>&gt; </a:t>
            </a:r>
            <a:r>
              <a:rPr lang="ru-RU" sz="2000" dirty="0" smtClean="0"/>
              <a:t>включается дизель,</a:t>
            </a:r>
          </a:p>
          <a:p>
            <a:pPr>
              <a:buNone/>
            </a:pPr>
            <a:r>
              <a:rPr lang="ru-RU" sz="2000" dirty="0" smtClean="0"/>
              <a:t>где            –  почасовая нагрузка (потребление) системы.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8</a:t>
            </a:fld>
            <a:r>
              <a:rPr lang="en-US" dirty="0" smtClean="0"/>
              <a:t>/17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52566"/>
            <a:ext cx="26098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9629" y="2219319"/>
            <a:ext cx="56197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3851" y="2571744"/>
            <a:ext cx="61912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2947986"/>
            <a:ext cx="2476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2906" y="3643314"/>
            <a:ext cx="13144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71472" y="4000504"/>
            <a:ext cx="1323975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76291" y="4786322"/>
            <a:ext cx="52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Метод анализа надёжности резервирования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00108"/>
            <a:ext cx="8197110" cy="52149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b="1" dirty="0" smtClean="0"/>
              <a:t>Источник №5: </a:t>
            </a:r>
            <a:r>
              <a:rPr lang="ru-RU" sz="1800" dirty="0" smtClean="0"/>
              <a:t>Исследование надежности замкнутой резервированной системы обслуживания.</a:t>
            </a:r>
            <a:endParaRPr lang="ru-RU" sz="1800" b="1" dirty="0" smtClean="0"/>
          </a:p>
          <a:p>
            <a:pPr marL="0" indent="0">
              <a:buNone/>
            </a:pPr>
            <a:r>
              <a:rPr lang="ru-RU" sz="1800" b="1" dirty="0" smtClean="0"/>
              <a:t>Используется стохастический метод анализа надежности резервированной системы, основанный на:</a:t>
            </a:r>
          </a:p>
          <a:p>
            <a:pPr marL="0" indent="0"/>
            <a:r>
              <a:rPr lang="ru-RU" sz="1800" dirty="0" smtClean="0"/>
              <a:t> Модели холодного резервирования</a:t>
            </a:r>
          </a:p>
          <a:p>
            <a:pPr marL="0" indent="0"/>
            <a:r>
              <a:rPr lang="ru-RU" sz="1800" dirty="0" smtClean="0"/>
              <a:t> Представлении системы через набор состояний</a:t>
            </a:r>
          </a:p>
          <a:p>
            <a:pPr marL="0" indent="0"/>
            <a:r>
              <a:rPr lang="ru-RU" sz="1800" dirty="0" smtClean="0"/>
              <a:t> Расчёте стационарных вероятностей состояний</a:t>
            </a:r>
          </a:p>
          <a:p>
            <a:pPr marL="0" indent="0"/>
            <a:r>
              <a:rPr lang="ru-RU" sz="1800" dirty="0" smtClean="0"/>
              <a:t> Использовании интенсивностей отказов и восстановления</a:t>
            </a:r>
          </a:p>
          <a:p>
            <a:pPr marL="0" indent="0">
              <a:buNone/>
            </a:pPr>
            <a:r>
              <a:rPr lang="ru-RU" sz="1800" b="1" dirty="0" smtClean="0"/>
              <a:t>Метод позволяет:</a:t>
            </a:r>
          </a:p>
          <a:p>
            <a:pPr marL="0" indent="0"/>
            <a:r>
              <a:rPr lang="en-US" sz="1800" dirty="0" smtClean="0"/>
              <a:t> </a:t>
            </a:r>
            <a:r>
              <a:rPr lang="ru-RU" sz="1800" dirty="0" smtClean="0"/>
              <a:t>Описать работу системы с резервным </a:t>
            </a:r>
            <a:r>
              <a:rPr lang="ru-RU" sz="1800" dirty="0" err="1" smtClean="0"/>
              <a:t>дизель-генератором</a:t>
            </a:r>
            <a:endParaRPr lang="ru-RU" sz="1800" dirty="0" smtClean="0"/>
          </a:p>
          <a:p>
            <a:pPr marL="0" indent="0"/>
            <a:r>
              <a:rPr lang="ru-RU" sz="1800" dirty="0" smtClean="0"/>
              <a:t> Формализовать переходы: работа -- отказ -- включение резерва</a:t>
            </a:r>
          </a:p>
          <a:p>
            <a:pPr marL="0" indent="0"/>
            <a:r>
              <a:rPr lang="ru-RU" sz="1800" dirty="0" smtClean="0"/>
              <a:t> Разделить: отказ одного элемента</a:t>
            </a:r>
            <a:r>
              <a:rPr lang="en-US" sz="1800" dirty="0" smtClean="0"/>
              <a:t>/</a:t>
            </a:r>
            <a:r>
              <a:rPr lang="ru-RU" sz="1800" dirty="0" smtClean="0"/>
              <a:t>отказ всей системы</a:t>
            </a:r>
          </a:p>
          <a:p>
            <a:pPr marL="0" indent="0">
              <a:buNone/>
            </a:pPr>
            <a:r>
              <a:rPr lang="ru-RU" sz="1800" b="1" dirty="0" smtClean="0"/>
              <a:t>В рамках задачи метод используется для:</a:t>
            </a:r>
          </a:p>
          <a:p>
            <a:pPr marL="0" indent="0"/>
            <a:r>
              <a:rPr lang="ru-RU" sz="1800" dirty="0" smtClean="0"/>
              <a:t> Оценки надёжности исходной схемы энергоснабжения</a:t>
            </a:r>
          </a:p>
          <a:p>
            <a:pPr marL="0" indent="0"/>
            <a:r>
              <a:rPr lang="ru-RU" sz="1800" dirty="0" smtClean="0"/>
              <a:t> Сравнения надёжности дизельной и гибридной систем</a:t>
            </a:r>
          </a:p>
          <a:p>
            <a:pPr marL="0" indent="0"/>
            <a:r>
              <a:rPr lang="ru-RU" sz="1800" dirty="0" smtClean="0"/>
              <a:t> Обоснования необходимости резервирования</a:t>
            </a: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9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71546"/>
            <a:ext cx="8197110" cy="51435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 smtClean="0"/>
              <a:t>Интенсивность отказов</a:t>
            </a:r>
            <a:br>
              <a:rPr lang="ru-RU" sz="2000" b="1" dirty="0" smtClean="0"/>
            </a:br>
            <a:r>
              <a:rPr lang="ru-RU" sz="2000" dirty="0" smtClean="0"/>
              <a:t>Вероятность отказа элемента определяется через интенсивность отказов.</a:t>
            </a:r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где MTBF — среднее время работы до отказа. </a:t>
            </a:r>
          </a:p>
          <a:p>
            <a:pPr marL="0" indent="0">
              <a:buNone/>
            </a:pPr>
            <a:r>
              <a:rPr lang="ru-RU" sz="2000" b="1" dirty="0" smtClean="0"/>
              <a:t>Интенсивность восстановления</a:t>
            </a:r>
          </a:p>
          <a:p>
            <a:pPr marL="0" indent="0">
              <a:buNone/>
            </a:pPr>
            <a:endParaRPr lang="ru-RU" sz="2000" b="1" dirty="0" smtClean="0"/>
          </a:p>
          <a:p>
            <a:pPr marL="0" indent="0">
              <a:buNone/>
            </a:pPr>
            <a:endParaRPr lang="ru-RU" sz="2000" b="1" dirty="0" smtClean="0"/>
          </a:p>
          <a:p>
            <a:pPr marL="0" indent="0">
              <a:buNone/>
            </a:pPr>
            <a:r>
              <a:rPr lang="ru-RU" sz="2000" dirty="0" smtClean="0"/>
              <a:t>где </a:t>
            </a:r>
            <a:r>
              <a:rPr lang="en-US" sz="2000" dirty="0" smtClean="0"/>
              <a:t>MTTR — </a:t>
            </a:r>
            <a:r>
              <a:rPr lang="ru-RU" sz="2000" dirty="0" smtClean="0"/>
              <a:t>среднее время восстановления.</a:t>
            </a:r>
          </a:p>
          <a:p>
            <a:pPr marL="0" indent="0">
              <a:buNone/>
            </a:pPr>
            <a:r>
              <a:rPr lang="ru-RU" sz="2000" b="1" dirty="0" smtClean="0"/>
              <a:t>Состояния системы </a:t>
            </a:r>
            <a:br>
              <a:rPr lang="ru-RU" sz="2000" b="1" dirty="0" smtClean="0"/>
            </a:br>
            <a:r>
              <a:rPr lang="ru-RU" sz="2000" dirty="0" smtClean="0"/>
              <a:t>Система рассматривается как марковский процесс с несколькими состояниями:</a:t>
            </a:r>
          </a:p>
          <a:p>
            <a:r>
              <a:rPr lang="ru-RU" sz="2000" dirty="0" smtClean="0"/>
              <a:t>работает основной генератор</a:t>
            </a:r>
          </a:p>
          <a:p>
            <a:r>
              <a:rPr lang="ru-RU" sz="2000" dirty="0" smtClean="0"/>
              <a:t>основной отказал, работает резервный</a:t>
            </a:r>
          </a:p>
          <a:p>
            <a:r>
              <a:rPr lang="ru-RU" sz="2000" dirty="0" smtClean="0"/>
              <a:t>отказ всей системы.</a:t>
            </a:r>
          </a:p>
          <a:p>
            <a:pPr marL="0" indent="0">
              <a:buNone/>
            </a:pPr>
            <a:endParaRPr lang="ru-RU" sz="2000" b="1" dirty="0" smtClean="0"/>
          </a:p>
          <a:p>
            <a:pPr marL="0" indent="0">
              <a:buNone/>
            </a:pPr>
            <a:endParaRPr lang="ru-RU" sz="2000" b="1" dirty="0" smtClean="0"/>
          </a:p>
          <a:p>
            <a:pPr marL="0" indent="0">
              <a:buNone/>
            </a:pPr>
            <a:endParaRPr lang="ru-RU" sz="2000" b="1" dirty="0" smtClean="0"/>
          </a:p>
          <a:p>
            <a:pPr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10</a:t>
            </a:fld>
            <a:r>
              <a:rPr lang="en-US" dirty="0" smtClean="0"/>
              <a:t>/17</a:t>
            </a:r>
            <a:endParaRPr lang="ru-RU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t="12500"/>
          <a:stretch>
            <a:fillRect/>
          </a:stretch>
        </p:blipFill>
        <p:spPr bwMode="auto">
          <a:xfrm>
            <a:off x="571472" y="1738475"/>
            <a:ext cx="1428760" cy="54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 t="11719"/>
          <a:stretch>
            <a:fillRect/>
          </a:stretch>
        </p:blipFill>
        <p:spPr bwMode="auto">
          <a:xfrm>
            <a:off x="571472" y="3066708"/>
            <a:ext cx="1285884" cy="576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71546"/>
            <a:ext cx="8197110" cy="51435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dirty="0" smtClean="0"/>
              <a:t>Стационарная вероятность состояния</a:t>
            </a:r>
          </a:p>
          <a:p>
            <a:pPr>
              <a:buNone/>
            </a:pPr>
            <a:r>
              <a:rPr lang="ru-RU" sz="2000" dirty="0" smtClean="0"/>
              <a:t>Вероятность нахождения системы в состоянии </a:t>
            </a:r>
            <a:r>
              <a:rPr lang="en-US" sz="2000" i="1" dirty="0" err="1" smtClean="0"/>
              <a:t>i</a:t>
            </a:r>
            <a:r>
              <a:rPr lang="ru-RU" sz="2000" dirty="0" smtClean="0"/>
              <a:t>:</a:t>
            </a: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ru-RU" sz="2000" b="1" dirty="0" smtClean="0"/>
              <a:t>Вероятность безотказной работы</a:t>
            </a:r>
            <a:endParaRPr lang="en-US" sz="2000" b="1" dirty="0" smtClean="0"/>
          </a:p>
          <a:p>
            <a:pPr>
              <a:buNone/>
            </a:pPr>
            <a:endParaRPr lang="en-US" sz="2000" b="1" dirty="0" smtClean="0"/>
          </a:p>
          <a:p>
            <a:pPr>
              <a:buNone/>
            </a:pPr>
            <a:r>
              <a:rPr lang="ru-RU" sz="2000" dirty="0" smtClean="0"/>
              <a:t>где </a:t>
            </a:r>
            <a:r>
              <a:rPr lang="en-US" sz="2000" i="1" dirty="0" smtClean="0"/>
              <a:t>R(t)</a:t>
            </a:r>
            <a:r>
              <a:rPr lang="en-US" sz="2000" dirty="0" smtClean="0"/>
              <a:t> </a:t>
            </a:r>
            <a:r>
              <a:rPr lang="ru-RU" sz="2000" dirty="0" smtClean="0"/>
              <a:t>– вероятность безотказной работы за время </a:t>
            </a:r>
            <a:r>
              <a:rPr lang="en-US" sz="2000" dirty="0" smtClean="0"/>
              <a:t>t.</a:t>
            </a:r>
          </a:p>
          <a:p>
            <a:pPr>
              <a:buNone/>
            </a:pPr>
            <a:endParaRPr lang="ru-RU" sz="2000" b="1" dirty="0" smtClean="0"/>
          </a:p>
          <a:p>
            <a:pPr>
              <a:buNone/>
            </a:pPr>
            <a:endParaRPr lang="ru-RU" sz="20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11</a:t>
            </a:fld>
            <a:r>
              <a:rPr lang="en-US" dirty="0" smtClean="0"/>
              <a:t>/17</a:t>
            </a:r>
            <a:endParaRPr lang="ru-RU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73026"/>
            <a:ext cx="1214446" cy="741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55" y="2890836"/>
            <a:ext cx="1453265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1760" y="0"/>
            <a:ext cx="6480720" cy="785794"/>
          </a:xfrm>
        </p:spPr>
        <p:txBody>
          <a:bodyPr>
            <a:noAutofit/>
          </a:bodyPr>
          <a:lstStyle/>
          <a:p>
            <a:r>
              <a:rPr lang="ru-RU" sz="2800" dirty="0" smtClean="0"/>
              <a:t>Сравнение с альтернативными методами надёжности</a:t>
            </a:r>
            <a:endParaRPr lang="ru-RU" sz="2500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2" y="848417"/>
          <a:ext cx="9143998" cy="55809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0296"/>
                <a:gridCol w="1643074"/>
                <a:gridCol w="2357454"/>
                <a:gridCol w="2643174"/>
              </a:tblGrid>
              <a:tr h="619591"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 smtClean="0"/>
                        <a:t>Источник</a:t>
                      </a:r>
                      <a:endParaRPr lang="ru-RU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 smtClean="0"/>
                        <a:t>Описание</a:t>
                      </a:r>
                      <a:endParaRPr lang="ru-RU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 smtClean="0"/>
                        <a:t>Плюсы</a:t>
                      </a:r>
                      <a:endParaRPr lang="ru-RU" sz="13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 smtClean="0"/>
                        <a:t>Минусы</a:t>
                      </a:r>
                      <a:endParaRPr lang="ru-RU" sz="1300" b="1" dirty="0"/>
                    </a:p>
                  </a:txBody>
                  <a:tcPr/>
                </a:tc>
              </a:tr>
              <a:tr h="877643">
                <a:tc>
                  <a:txBody>
                    <a:bodyPr/>
                    <a:lstStyle/>
                    <a:p>
                      <a:pPr algn="l"/>
                      <a:r>
                        <a:rPr lang="ru-RU" sz="1300" dirty="0" smtClean="0"/>
                        <a:t>№5: </a:t>
                      </a:r>
                      <a:r>
                        <a:rPr lang="ru-RU" sz="13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Исследование надежности замкнутой резервированной системы обслуживания</a:t>
                      </a:r>
                      <a:endParaRPr lang="ru-RU" sz="13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/>
                        <a:t>Описывает холодный резерв и вероятности состояний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/>
                        <a:t>Точно попадает в условие задачи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/>
                        <a:t>Не закрывает экономику и технику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74356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 smtClean="0"/>
                        <a:t>№6: </a:t>
                      </a:r>
                      <a:r>
                        <a:rPr lang="ru-RU" sz="13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Теоретические основы надежности технических систем</a:t>
                      </a:r>
                      <a:endParaRPr lang="ru-RU" sz="13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/>
                        <a:t>Общая теория надёжности технических систем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Фундаментальный подход, охватывает все типы резервирования.</a:t>
                      </a:r>
                      <a:r>
                        <a:rPr lang="ru-RU" sz="13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3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Хорошо проработан математический аппарат</a:t>
                      </a:r>
                      <a:endParaRPr lang="ru-RU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 smtClean="0"/>
                        <a:t>Слишком широкий, описывает</a:t>
                      </a:r>
                      <a:r>
                        <a:rPr lang="ru-RU" sz="1300" baseline="0" dirty="0" smtClean="0"/>
                        <a:t> множество видов отказов. Не дает  готовой модели холодного резерва для двух генераторов</a:t>
                      </a:r>
                      <a:endParaRPr lang="ru-RU" sz="1300" dirty="0"/>
                    </a:p>
                  </a:txBody>
                  <a:tcPr anchor="ctr"/>
                </a:tc>
              </a:tr>
              <a:tr h="1052544">
                <a:tc>
                  <a:txBody>
                    <a:bodyPr/>
                    <a:lstStyle/>
                    <a:p>
                      <a:pPr algn="l"/>
                      <a:r>
                        <a:rPr lang="ru-RU" sz="1300" dirty="0" smtClean="0"/>
                        <a:t>№13:</a:t>
                      </a:r>
                      <a:r>
                        <a:rPr lang="ru-RU" sz="1300" baseline="0" dirty="0" smtClean="0"/>
                        <a:t> </a:t>
                      </a:r>
                      <a:r>
                        <a:rPr lang="ru-RU" sz="13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Построение стохастической модели риска инвестиций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/>
                        <a:t>Стохастическая модель инвестиционного риска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Математически строгий метод учёта неопределённости.</a:t>
                      </a:r>
                      <a:r>
                        <a:rPr lang="ru-RU" sz="13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3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Позволяет оценить разброс показателей NPV/IRR</a:t>
                      </a:r>
                      <a:endParaRPr lang="ru-RU" sz="13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 smtClean="0"/>
                        <a:t>Ориентирован</a:t>
                      </a:r>
                      <a:r>
                        <a:rPr lang="ru-RU" sz="1300" baseline="0" dirty="0" smtClean="0"/>
                        <a:t> на финансовые риски, а не на отказы оборудования. Избыточен для нашей задачи</a:t>
                      </a:r>
                      <a:endParaRPr lang="ru-RU" sz="1300" dirty="0"/>
                    </a:p>
                  </a:txBody>
                  <a:tcPr anchor="ctr"/>
                </a:tc>
              </a:tr>
              <a:tr h="1942884">
                <a:tc>
                  <a:txBody>
                    <a:bodyPr/>
                    <a:lstStyle/>
                    <a:p>
                      <a:pPr algn="l"/>
                      <a:r>
                        <a:rPr lang="ru-RU" sz="1300" dirty="0" smtClean="0"/>
                        <a:t>№14: </a:t>
                      </a:r>
                      <a:r>
                        <a:rPr lang="ru-RU" sz="13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Анализ методов и моделей, используемых при оценке вариантов долгосрочного развития ТЭК</a:t>
                      </a:r>
                      <a:endParaRPr lang="ru-RU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dirty="0"/>
                        <a:t>Методы оценки развития ТЭК</a:t>
                      </a:r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Рассматривает гибридные системы на уровне регионов. Учитывает экологические и социальные факторы</a:t>
                      </a:r>
                      <a:endParaRPr lang="ru-RU" sz="1300" dirty="0"/>
                    </a:p>
                  </a:txBody>
                  <a:tcPr marB="18288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3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Макроуровень: не подходит для локальной автономной системы энергоснабжения (один </a:t>
                      </a:r>
                      <a:r>
                        <a:rPr lang="ru-RU" sz="13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телеком-узел</a:t>
                      </a:r>
                      <a:r>
                        <a:rPr lang="ru-RU" sz="13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). Не содержит детальных формул для расчёта надёжности малой системы</a:t>
                      </a:r>
                      <a:endParaRPr lang="ru-RU" sz="1300" dirty="0"/>
                    </a:p>
                  </a:txBody>
                  <a:tcPr marB="182880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12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Метод экономической оценки проекта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857232"/>
            <a:ext cx="8197110" cy="5089198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spcBef>
                <a:spcPts val="450"/>
              </a:spcBef>
              <a:buNone/>
            </a:pPr>
            <a:r>
              <a:rPr lang="ru-RU" sz="1800" b="1" dirty="0" smtClean="0"/>
              <a:t>Источник №1: </a:t>
            </a:r>
            <a:r>
              <a:rPr lang="ru-RU" sz="1800" dirty="0" smtClean="0"/>
              <a:t>Ветро-солнечная система электроснабжения посёлка.</a:t>
            </a:r>
            <a:endParaRPr lang="ru-RU" sz="1800" b="1" dirty="0" smtClean="0"/>
          </a:p>
          <a:p>
            <a:pPr marL="0" indent="0">
              <a:lnSpc>
                <a:spcPct val="90000"/>
              </a:lnSpc>
              <a:spcBef>
                <a:spcPts val="450"/>
              </a:spcBef>
              <a:buNone/>
            </a:pPr>
            <a:r>
              <a:rPr lang="ru-RU" sz="1800" b="1" dirty="0" smtClean="0"/>
              <a:t>Метод экономической оценки проекта применяется после определения объекта, параметров нагрузки и состава сравниваемых схем энергоснабжения. В рамках метода: </a:t>
            </a:r>
          </a:p>
          <a:p>
            <a:pPr marL="0" indent="0">
              <a:lnSpc>
                <a:spcPct val="90000"/>
              </a:lnSpc>
              <a:spcBef>
                <a:spcPts val="450"/>
              </a:spcBef>
            </a:pPr>
            <a:r>
              <a:rPr lang="ru-RU" sz="1800" dirty="0" smtClean="0"/>
              <a:t> Фиксируются исходные параметры объекта и сравниваемых вариантов</a:t>
            </a:r>
          </a:p>
          <a:p>
            <a:pPr marL="0" indent="0">
              <a:lnSpc>
                <a:spcPct val="90000"/>
              </a:lnSpc>
              <a:spcBef>
                <a:spcPts val="450"/>
              </a:spcBef>
            </a:pPr>
            <a:r>
              <a:rPr lang="ru-RU" sz="1800" dirty="0" smtClean="0"/>
              <a:t> Используются результаты технического расчёта гибридной системы и анализа надёжности</a:t>
            </a:r>
          </a:p>
          <a:p>
            <a:pPr marL="0" indent="0">
              <a:lnSpc>
                <a:spcPct val="90000"/>
              </a:lnSpc>
              <a:spcBef>
                <a:spcPts val="450"/>
              </a:spcBef>
            </a:pPr>
            <a:r>
              <a:rPr lang="ru-RU" sz="1800" dirty="0" smtClean="0"/>
              <a:t> Формируются денежные потоки проекта</a:t>
            </a:r>
          </a:p>
          <a:p>
            <a:pPr marL="0" indent="0">
              <a:lnSpc>
                <a:spcPct val="90000"/>
              </a:lnSpc>
              <a:spcBef>
                <a:spcPts val="450"/>
              </a:spcBef>
            </a:pPr>
            <a:r>
              <a:rPr lang="ru-RU" sz="1800" dirty="0" smtClean="0"/>
              <a:t> Рассчитываются показатели инвестиционного анализа</a:t>
            </a:r>
          </a:p>
          <a:p>
            <a:pPr marL="0" indent="0">
              <a:lnSpc>
                <a:spcPct val="90000"/>
              </a:lnSpc>
              <a:spcBef>
                <a:spcPts val="450"/>
              </a:spcBef>
              <a:buNone/>
            </a:pPr>
            <a:r>
              <a:rPr lang="ru-RU" sz="1800" b="1" dirty="0" smtClean="0"/>
              <a:t>Для оценки эффективности используются стандартные показатели инвестиционного анализа:</a:t>
            </a:r>
          </a:p>
          <a:p>
            <a:pPr marL="0" indent="0">
              <a:lnSpc>
                <a:spcPct val="110000"/>
              </a:lnSpc>
              <a:spcBef>
                <a:spcPts val="450"/>
              </a:spcBef>
              <a:buNone/>
            </a:pPr>
            <a:r>
              <a:rPr lang="ru-RU" sz="1800" dirty="0" smtClean="0"/>
              <a:t>Денежные потоки, </a:t>
            </a:r>
            <a:r>
              <a:rPr lang="en-US" sz="1800" dirty="0" smtClean="0"/>
              <a:t>NPV (Net Present Value)</a:t>
            </a:r>
            <a:r>
              <a:rPr lang="ru-RU" sz="1800" dirty="0" smtClean="0"/>
              <a:t>, </a:t>
            </a:r>
            <a:r>
              <a:rPr lang="en-US" sz="1800" dirty="0" smtClean="0"/>
              <a:t>PI (Profitability Index)</a:t>
            </a:r>
            <a:r>
              <a:rPr lang="ru-RU" sz="1800" dirty="0" smtClean="0"/>
              <a:t>, </a:t>
            </a:r>
            <a:r>
              <a:rPr lang="en-US" sz="1800" dirty="0" smtClean="0"/>
              <a:t>IRR (Internal Rate of Return)</a:t>
            </a:r>
            <a:r>
              <a:rPr lang="ru-RU" sz="1800" dirty="0" smtClean="0"/>
              <a:t>, </a:t>
            </a:r>
            <a:r>
              <a:rPr lang="en-US" sz="1800" dirty="0" smtClean="0"/>
              <a:t>DPP (Discounted Payback Period)</a:t>
            </a:r>
            <a:endParaRPr lang="ru-RU" sz="1800" dirty="0" smtClean="0"/>
          </a:p>
          <a:p>
            <a:pPr marL="0" indent="0">
              <a:lnSpc>
                <a:spcPct val="110000"/>
              </a:lnSpc>
              <a:spcBef>
                <a:spcPts val="450"/>
              </a:spcBef>
              <a:buNone/>
            </a:pPr>
            <a:r>
              <a:rPr lang="ru-RU" sz="1800" b="1" dirty="0" smtClean="0"/>
              <a:t>Метод позволяет:</a:t>
            </a:r>
          </a:p>
          <a:p>
            <a:pPr marL="0" indent="0"/>
            <a:r>
              <a:rPr lang="ru-RU" sz="1800" dirty="0" smtClean="0"/>
              <a:t> Определить, выгодна ли замена резервного дизель-генератора на солнечную станцию с аккумулятором</a:t>
            </a:r>
          </a:p>
          <a:p>
            <a:pPr marL="0" indent="0"/>
            <a:r>
              <a:rPr lang="ru-RU" sz="1800" dirty="0" smtClean="0"/>
              <a:t> Оценить экономию денежных средств </a:t>
            </a:r>
          </a:p>
          <a:p>
            <a:pPr marL="0" indent="0"/>
            <a:r>
              <a:rPr lang="ru-RU" sz="1800" dirty="0" smtClean="0"/>
              <a:t> Определить срок окупаемости гибридной схемы энергоснабжения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13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71546"/>
            <a:ext cx="8197110" cy="5143536"/>
          </a:xfrm>
        </p:spPr>
        <p:txBody>
          <a:bodyPr>
            <a:normAutofit/>
          </a:bodyPr>
          <a:lstStyle/>
          <a:p>
            <a:pPr marL="0">
              <a:buNone/>
            </a:pPr>
            <a:r>
              <a:rPr lang="ru-RU" sz="2000" b="1" dirty="0" smtClean="0"/>
              <a:t>Денежный поток</a:t>
            </a:r>
            <a:br>
              <a:rPr lang="ru-RU" sz="2000" b="1" dirty="0" smtClean="0"/>
            </a:br>
            <a:r>
              <a:rPr lang="ru-RU" sz="2000" dirty="0" smtClean="0"/>
              <a:t>Определяется как разность между доходами и затратами проекта в каждом году: </a:t>
            </a:r>
            <a:r>
              <a:rPr lang="en-US" sz="2000" dirty="0" smtClean="0"/>
              <a:t>​</a:t>
            </a:r>
            <a:r>
              <a:rPr lang="ru-RU" sz="2000" dirty="0" smtClean="0"/>
              <a:t> 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ru-RU" sz="2000" dirty="0" smtClean="0"/>
              <a:t>где         – денежный поток в год </a:t>
            </a:r>
            <a:r>
              <a:rPr lang="en-US" sz="2000" dirty="0" smtClean="0"/>
              <a:t>t;   </a:t>
            </a:r>
            <a:r>
              <a:rPr lang="ru-RU" sz="2000" dirty="0" smtClean="0"/>
              <a:t> </a:t>
            </a:r>
            <a:r>
              <a:rPr lang="en-US" sz="2000" dirty="0" smtClean="0"/>
              <a:t> </a:t>
            </a:r>
            <a:r>
              <a:rPr lang="ru-RU" sz="2000" dirty="0" smtClean="0"/>
              <a:t>– доходы,       – расходы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ru-RU" sz="2000" b="1" dirty="0" smtClean="0"/>
              <a:t>Чистая приведённая стоимость (</a:t>
            </a:r>
            <a:r>
              <a:rPr lang="en-US" sz="2000" b="1" dirty="0" smtClean="0"/>
              <a:t>NPV)</a:t>
            </a:r>
            <a:r>
              <a:rPr lang="ru-RU" sz="2000" b="1" dirty="0" smtClean="0"/>
              <a:t/>
            </a:r>
            <a:br>
              <a:rPr lang="ru-RU" sz="2000" b="1" dirty="0" smtClean="0"/>
            </a:br>
            <a:r>
              <a:rPr lang="ru-RU" sz="2000" dirty="0" smtClean="0"/>
              <a:t>Показывает разницу между приведённой стоимостью доходов и первоначальными инвестициями.</a:t>
            </a:r>
          </a:p>
          <a:p>
            <a:pPr marL="0" indent="0">
              <a:spcBef>
                <a:spcPts val="450"/>
              </a:spcBef>
              <a:buNone/>
            </a:pPr>
            <a:endParaRPr lang="en-US" sz="2000" b="1" dirty="0" smtClean="0"/>
          </a:p>
          <a:p>
            <a:pPr marL="0" indent="0">
              <a:spcBef>
                <a:spcPts val="450"/>
              </a:spcBef>
              <a:buNone/>
            </a:pPr>
            <a:r>
              <a:rPr lang="ru-RU" sz="2000" b="1" dirty="0" smtClean="0"/>
              <a:t/>
            </a:r>
            <a:br>
              <a:rPr lang="ru-RU" sz="2000" b="1" dirty="0" smtClean="0"/>
            </a:br>
            <a:r>
              <a:rPr lang="ru-RU" sz="2000" dirty="0" smtClean="0"/>
              <a:t>где </a:t>
            </a:r>
            <a:r>
              <a:rPr lang="en-US" sz="2000" dirty="0" smtClean="0"/>
              <a:t>r </a:t>
            </a:r>
            <a:r>
              <a:rPr lang="ru-RU" sz="2000" dirty="0" smtClean="0"/>
              <a:t>– ставка дисконтирования, </a:t>
            </a:r>
            <a:r>
              <a:rPr lang="en-US" sz="2000" dirty="0" smtClean="0"/>
              <a:t>n </a:t>
            </a:r>
            <a:r>
              <a:rPr lang="ru-RU" sz="2000" dirty="0" smtClean="0"/>
              <a:t>– срок проекта,</a:t>
            </a:r>
            <a:r>
              <a:rPr lang="en-US" sz="2000" dirty="0" smtClean="0"/>
              <a:t> </a:t>
            </a:r>
            <a:r>
              <a:rPr lang="ru-RU" sz="2000" dirty="0" smtClean="0"/>
              <a:t> </a:t>
            </a:r>
            <a:r>
              <a:rPr lang="en-US" sz="2000" dirty="0" smtClean="0"/>
              <a:t>  — </a:t>
            </a:r>
            <a:r>
              <a:rPr lang="ru-RU" sz="2000" dirty="0" smtClean="0"/>
              <a:t>первоначальные инвестиции.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ru-RU" sz="2000" dirty="0" smtClean="0"/>
              <a:t>Критерии принятия решения:</a:t>
            </a:r>
            <a:endParaRPr lang="en-US" sz="2000" dirty="0" smtClean="0"/>
          </a:p>
          <a:p>
            <a:pPr marL="0" indent="0">
              <a:spcBef>
                <a:spcPts val="450"/>
              </a:spcBef>
              <a:buNone/>
            </a:pPr>
            <a:r>
              <a:rPr lang="en-US" sz="2000" dirty="0" smtClean="0"/>
              <a:t>NPV &gt; 0 </a:t>
            </a:r>
            <a:r>
              <a:rPr lang="ru-RU" sz="2000" dirty="0" smtClean="0"/>
              <a:t>– проект экономически эффективен,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2000" dirty="0" smtClean="0"/>
              <a:t>NPV &lt; 0 </a:t>
            </a:r>
            <a:r>
              <a:rPr lang="ru-RU" sz="2000" dirty="0" smtClean="0"/>
              <a:t>– проект неэффективен.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14</a:t>
            </a:fld>
            <a:r>
              <a:rPr lang="en-US" dirty="0" smtClean="0"/>
              <a:t>/17</a:t>
            </a:r>
            <a:endParaRPr lang="ru-RU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94" y="1681153"/>
            <a:ext cx="16192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4522" y="2143118"/>
            <a:ext cx="3048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2143116"/>
            <a:ext cx="2762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2071678"/>
            <a:ext cx="4857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472" y="3429000"/>
            <a:ext cx="24669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929322" y="4071942"/>
            <a:ext cx="233363" cy="370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71546"/>
            <a:ext cx="8197110" cy="5143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50" b="1" dirty="0" smtClean="0"/>
              <a:t>Индекс доходности (</a:t>
            </a:r>
            <a:r>
              <a:rPr lang="en-US" sz="1850" b="1" dirty="0" smtClean="0"/>
              <a:t>PI)</a:t>
            </a:r>
            <a:r>
              <a:rPr lang="ru-RU" sz="1850" dirty="0" smtClean="0"/>
              <a:t/>
            </a:r>
            <a:br>
              <a:rPr lang="ru-RU" sz="1850" dirty="0" smtClean="0"/>
            </a:br>
            <a:r>
              <a:rPr lang="ru-RU" sz="1850" dirty="0" smtClean="0"/>
              <a:t>Индекс доходности показывает отношение приведённых доходов к первоначальным инвестициям.</a:t>
            </a:r>
          </a:p>
          <a:p>
            <a:pPr marL="0" indent="0">
              <a:buNone/>
            </a:pPr>
            <a:endParaRPr lang="ru-RU" sz="1850" dirty="0" smtClean="0"/>
          </a:p>
          <a:p>
            <a:pPr marL="0" indent="0">
              <a:buNone/>
            </a:pPr>
            <a:endParaRPr lang="ru-RU" sz="1850" dirty="0" smtClean="0"/>
          </a:p>
          <a:p>
            <a:pPr marL="0" indent="0">
              <a:buNone/>
            </a:pPr>
            <a:r>
              <a:rPr lang="ru-RU" sz="1850" dirty="0" smtClean="0"/>
              <a:t>Критерий: </a:t>
            </a:r>
            <a:br>
              <a:rPr lang="ru-RU" sz="1850" dirty="0" smtClean="0"/>
            </a:br>
            <a:r>
              <a:rPr lang="en-US" sz="1850" dirty="0" smtClean="0"/>
              <a:t>PI &gt; 1 </a:t>
            </a:r>
            <a:r>
              <a:rPr lang="ru-RU" sz="1850" dirty="0" smtClean="0"/>
              <a:t>– проект выгоден,</a:t>
            </a:r>
            <a:br>
              <a:rPr lang="ru-RU" sz="1850" dirty="0" smtClean="0"/>
            </a:br>
            <a:r>
              <a:rPr lang="en-US" sz="1850" dirty="0" smtClean="0"/>
              <a:t>PI &lt; 1 </a:t>
            </a:r>
            <a:r>
              <a:rPr lang="ru-RU" sz="1850" dirty="0" smtClean="0"/>
              <a:t>– проект невыгоден.</a:t>
            </a:r>
          </a:p>
          <a:p>
            <a:pPr marL="0" indent="0">
              <a:buNone/>
            </a:pPr>
            <a:r>
              <a:rPr lang="ru-RU" sz="1850" b="1" dirty="0" smtClean="0"/>
              <a:t>Внутренняя норма доходности (</a:t>
            </a:r>
            <a:r>
              <a:rPr lang="en-US" sz="1850" b="1" dirty="0" smtClean="0"/>
              <a:t>IRR)</a:t>
            </a:r>
          </a:p>
          <a:p>
            <a:pPr marL="0" indent="0">
              <a:buNone/>
            </a:pPr>
            <a:r>
              <a:rPr lang="ru-RU" sz="1850" dirty="0" smtClean="0"/>
              <a:t>IRR — это ставка дисконтирования, при которой: </a:t>
            </a:r>
            <a:r>
              <a:rPr lang="en-US" sz="1850" dirty="0" smtClean="0"/>
              <a:t>NPV = 0</a:t>
            </a:r>
          </a:p>
          <a:p>
            <a:pPr marL="0" indent="0">
              <a:buNone/>
            </a:pPr>
            <a:r>
              <a:rPr lang="ru-RU" sz="1850" b="1" dirty="0" smtClean="0"/>
              <a:t>Дисконтированный срок окупаемости (</a:t>
            </a:r>
            <a:r>
              <a:rPr lang="en-US" sz="1850" b="1" dirty="0" smtClean="0"/>
              <a:t>DPP)</a:t>
            </a:r>
          </a:p>
          <a:p>
            <a:pPr marL="0" indent="0">
              <a:buNone/>
            </a:pPr>
            <a:r>
              <a:rPr lang="ru-RU" sz="1850" dirty="0" smtClean="0"/>
              <a:t>Момент времени, когда накопленный дисконтированный денежный поток становится положительным. Показывает, через сколько лет инвестиции окупятся с учётом дисконтирования.</a:t>
            </a:r>
          </a:p>
          <a:p>
            <a:pPr marL="0" indent="0">
              <a:buNone/>
            </a:pPr>
            <a:endParaRPr lang="ru-RU" sz="1850" dirty="0" smtClean="0"/>
          </a:p>
          <a:p>
            <a:pPr marL="0" indent="0">
              <a:buNone/>
            </a:pPr>
            <a:endParaRPr lang="ru-RU" sz="1850" dirty="0" smtClean="0"/>
          </a:p>
          <a:p>
            <a:pPr marL="0" indent="0">
              <a:buNone/>
            </a:pPr>
            <a:endParaRPr lang="ru-RU" sz="1850" dirty="0" smtClean="0"/>
          </a:p>
          <a:p>
            <a:pPr>
              <a:buNone/>
            </a:pPr>
            <a:endParaRPr lang="ru-RU" sz="185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15</a:t>
            </a:fld>
            <a:r>
              <a:rPr lang="en-US" dirty="0" smtClean="0"/>
              <a:t>/17</a:t>
            </a:r>
            <a:endParaRPr lang="ru-RU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970639"/>
            <a:ext cx="1714512" cy="672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0534" y="5500702"/>
            <a:ext cx="1552574" cy="73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1760" y="0"/>
            <a:ext cx="6480720" cy="785794"/>
          </a:xfrm>
        </p:spPr>
        <p:txBody>
          <a:bodyPr>
            <a:noAutofit/>
          </a:bodyPr>
          <a:lstStyle/>
          <a:p>
            <a:r>
              <a:rPr lang="ru-RU" sz="2800" dirty="0" smtClean="0"/>
              <a:t>Сравнение с альтернативными экономическими методами</a:t>
            </a:r>
            <a:endParaRPr lang="ru-RU" sz="2800" dirty="0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2" y="857232"/>
          <a:ext cx="9143999" cy="5572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982"/>
                <a:gridCol w="2428892"/>
                <a:gridCol w="1928826"/>
                <a:gridCol w="2500299"/>
              </a:tblGrid>
              <a:tr h="581347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Источник</a:t>
                      </a:r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Описание</a:t>
                      </a:r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Плюсы</a:t>
                      </a:r>
                      <a:endParaRPr lang="ru-RU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/>
                        <a:t>Минусы</a:t>
                      </a:r>
                      <a:endParaRPr lang="ru-RU" sz="1200" b="1" dirty="0"/>
                    </a:p>
                  </a:txBody>
                  <a:tcPr/>
                </a:tc>
              </a:tr>
              <a:tr h="102316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№1: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Ветро-солнечная система электроснабжения посёлка </a:t>
                      </a:r>
                      <a:b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endParaRPr lang="ru-RU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Рассматривается система энергоснабжения как инвестиционный проект. Для оценки используются денежные потоки, NPV, PI, IRR и DPP</a:t>
                      </a:r>
                      <a:endParaRPr lang="ru-RU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/>
                        <a:t>Полноценная экономическая оценка, есть срок окупаемости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200" dirty="0"/>
                        <a:t>Нуждается в технических входных данных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23163"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№2: </a:t>
                      </a:r>
                      <a:r>
                        <a:rPr lang="en-US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Cost Analysis of Solar/Wind/Diesel Hybrid Energy Systems for Telecom Tower by Using HOMER</a:t>
                      </a:r>
                      <a:endParaRPr lang="ru-RU" sz="1200" dirty="0" smtClean="0"/>
                    </a:p>
                    <a:p>
                      <a:pPr algn="l" fontAlgn="base"/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Оптимизация гибридной системы (</a:t>
                      </a:r>
                      <a:r>
                        <a:rPr lang="en-US" sz="1200" dirty="0"/>
                        <a:t>HOMER)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Рассматривается</a:t>
                      </a:r>
                      <a:r>
                        <a:rPr lang="ru-RU" sz="1200" baseline="0" dirty="0" smtClean="0"/>
                        <a:t> б</a:t>
                      </a:r>
                      <a:r>
                        <a:rPr lang="ru-RU" sz="1200" dirty="0" smtClean="0"/>
                        <a:t>лизкий </a:t>
                      </a:r>
                      <a:r>
                        <a:rPr lang="ru-RU" sz="1200" dirty="0"/>
                        <a:t>объект </a:t>
                      </a:r>
                      <a:r>
                        <a:rPr lang="ru-RU" sz="1200" dirty="0" smtClean="0"/>
                        <a:t>(</a:t>
                      </a:r>
                      <a:r>
                        <a:rPr lang="ru-RU" sz="1200" b="0" i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телеком-вышка</a:t>
                      </a:r>
                      <a:r>
                        <a:rPr lang="en-US" sz="1200" dirty="0" smtClean="0"/>
                        <a:t>)</a:t>
                      </a:r>
                      <a:r>
                        <a:rPr lang="ru-RU" sz="1200" dirty="0" smtClean="0"/>
                        <a:t>.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Учитывает реальные погодные данные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Привязан к коммерческой модели HOMER (не универсальный метод) Не даёт явных формул для самостоятельного расчёта</a:t>
                      </a:r>
                      <a:endParaRPr lang="ru-RU" sz="1200" dirty="0"/>
                    </a:p>
                  </a:txBody>
                  <a:tcPr anchor="ctr"/>
                </a:tc>
              </a:tr>
              <a:tr h="102316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№3: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Экономическое сравнение использования мобильной солнечной электростанции и дизельного электрогенератора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Сравнение стоимости 1 </a:t>
                      </a:r>
                      <a:r>
                        <a:rPr lang="ru-RU" sz="1200" dirty="0" smtClean="0"/>
                        <a:t>кВт·ч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для дизеля и солнечной станции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Простое и наглядное сопоставление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 учитывает инвестиционные затраты.</a:t>
                      </a:r>
                      <a:r>
                        <a:rPr lang="ru-RU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 даёт денежных потоков по годам.</a:t>
                      </a:r>
                      <a:r>
                        <a:rPr lang="ru-RU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Недостаточно для оценки проекта замены резервного генератора</a:t>
                      </a:r>
                      <a:endParaRPr lang="ru-RU" sz="1200" dirty="0"/>
                    </a:p>
                  </a:txBody>
                  <a:tcPr anchor="ctr"/>
                </a:tc>
              </a:tr>
              <a:tr h="82672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№7: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Анализ затрат в энергетике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Общий анализ затрат и выгод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Даёт общее </a:t>
                      </a:r>
                      <a:r>
                        <a:rPr lang="ru-RU" sz="1200" dirty="0" smtClean="0"/>
                        <a:t>представление.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Полезен для введения в проблему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Не содержит расчётного аппарата.</a:t>
                      </a:r>
                      <a:r>
                        <a:rPr lang="ru-RU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Слишком общий, не адаптирован к гибридным системам</a:t>
                      </a:r>
                      <a:endParaRPr lang="ru-RU" sz="1200" dirty="0"/>
                    </a:p>
                  </a:txBody>
                  <a:tcPr anchor="ctr"/>
                </a:tc>
              </a:tr>
              <a:tr h="10946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/>
                        <a:t>№13: </a:t>
                      </a:r>
                      <a:r>
                        <a:rPr lang="ru-RU" sz="120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Построение стохастической модели риска инвестиций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Стохастическая модель риска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Учитывает </a:t>
                      </a:r>
                      <a:r>
                        <a:rPr lang="ru-RU" sz="1200" dirty="0" smtClean="0"/>
                        <a:t>неопределённость 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цен, выработки, отказов. Позволяет оценить распределение NPV</a:t>
                      </a:r>
                      <a:endParaRPr lang="ru-RU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Избыточная сложность для нашей задачи.</a:t>
                      </a:r>
                      <a:r>
                        <a:rPr lang="ru-RU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Т</a:t>
                      </a:r>
                      <a:r>
                        <a:rPr lang="ru-RU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ребует задания вероятностных распределений по всем параметрам</a:t>
                      </a:r>
                      <a:endParaRPr lang="ru-RU" sz="12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16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Входные данные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071546"/>
            <a:ext cx="8197110" cy="51435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Параметры системы:</a:t>
            </a:r>
          </a:p>
          <a:p>
            <a:pPr marL="0" indent="-252000"/>
            <a:r>
              <a:rPr lang="ru-RU" sz="2000" dirty="0" smtClean="0"/>
              <a:t>Потребление </a:t>
            </a:r>
            <a:r>
              <a:rPr lang="ru-RU" sz="2000" dirty="0" smtClean="0"/>
              <a:t>узла:1 </a:t>
            </a:r>
            <a:r>
              <a:rPr lang="ru-RU" sz="2000" dirty="0" smtClean="0"/>
              <a:t>кВт·ч/час (24 кВт·ч/сутки</a:t>
            </a:r>
            <a:r>
              <a:rPr lang="ru-RU" sz="2000" dirty="0" smtClean="0"/>
              <a:t>)</a:t>
            </a:r>
          </a:p>
          <a:p>
            <a:pPr marL="0" indent="-252000"/>
            <a:r>
              <a:rPr lang="ru-RU" sz="2000" dirty="0" smtClean="0"/>
              <a:t>Удельный </a:t>
            </a:r>
            <a:r>
              <a:rPr lang="ru-RU" sz="2000" dirty="0" smtClean="0"/>
              <a:t>расход </a:t>
            </a:r>
            <a:r>
              <a:rPr lang="ru-RU" sz="2000" dirty="0" smtClean="0"/>
              <a:t>дизеля: 0,3 л/кВт·ч</a:t>
            </a:r>
          </a:p>
          <a:p>
            <a:pPr marL="0" indent="-252000"/>
            <a:r>
              <a:rPr lang="ru-RU" sz="2000" dirty="0" smtClean="0"/>
              <a:t>Стоимость </a:t>
            </a:r>
            <a:r>
              <a:rPr lang="ru-RU" sz="2000" dirty="0" smtClean="0"/>
              <a:t>топлива с </a:t>
            </a:r>
            <a:r>
              <a:rPr lang="ru-RU" sz="2000" dirty="0" smtClean="0"/>
              <a:t>доставкой: 5 </a:t>
            </a:r>
            <a:r>
              <a:rPr lang="ru-RU" sz="2000" dirty="0" smtClean="0"/>
              <a:t>$/</a:t>
            </a:r>
            <a:r>
              <a:rPr lang="ru-RU" sz="2000" dirty="0" smtClean="0"/>
              <a:t>л</a:t>
            </a:r>
          </a:p>
          <a:p>
            <a:pPr marL="0" indent="-252000"/>
            <a:r>
              <a:rPr lang="ru-RU" sz="2000" dirty="0" smtClean="0"/>
              <a:t>Вероятность </a:t>
            </a:r>
            <a:r>
              <a:rPr lang="ru-RU" sz="2000" dirty="0" smtClean="0"/>
              <a:t>отказа </a:t>
            </a:r>
            <a:r>
              <a:rPr lang="ru-RU" sz="2000" dirty="0" smtClean="0"/>
              <a:t>генератора: 0,01 </a:t>
            </a:r>
            <a:r>
              <a:rPr lang="ru-RU" sz="2000" dirty="0" smtClean="0"/>
              <a:t>в </a:t>
            </a:r>
            <a:r>
              <a:rPr lang="ru-RU" sz="2000" dirty="0" smtClean="0"/>
              <a:t>месяц</a:t>
            </a:r>
          </a:p>
          <a:p>
            <a:pPr marL="0" indent="-252000"/>
            <a:r>
              <a:rPr lang="ru-RU" sz="2000" dirty="0" smtClean="0"/>
              <a:t>Ёмкость аккумулятора: 5 кВт·ч</a:t>
            </a:r>
          </a:p>
          <a:p>
            <a:pPr marL="0" indent="-252000"/>
            <a:r>
              <a:rPr lang="ru-RU" sz="2000" dirty="0" smtClean="0"/>
              <a:t>Метеоданные </a:t>
            </a:r>
            <a:r>
              <a:rPr lang="ru-RU" sz="2000" dirty="0" smtClean="0"/>
              <a:t>(GTI, GHI, DNI, DHI, температура, облачность</a:t>
            </a:r>
            <a:r>
              <a:rPr lang="ru-RU" sz="2000" dirty="0" smtClean="0"/>
              <a:t>)</a:t>
            </a:r>
          </a:p>
          <a:p>
            <a:pPr marL="0" indent="-252000"/>
            <a:r>
              <a:rPr lang="ru-RU" sz="2000" dirty="0" smtClean="0"/>
              <a:t>Номинальная мощность солнечных панелей</a:t>
            </a: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17</a:t>
            </a:fld>
            <a:r>
              <a:rPr lang="en-US" dirty="0" smtClean="0"/>
              <a:t>/17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Блок-схема методов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857232"/>
            <a:ext cx="8197110" cy="5214974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</a:pPr>
            <a:r>
              <a:rPr lang="ru-RU" sz="1700" dirty="0" smtClean="0"/>
              <a:t> </a:t>
            </a:r>
            <a:endParaRPr lang="ru-RU" sz="17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67CA6-2D92-4602-87FB-B81B94BA46B2}" type="slidenum">
              <a:rPr lang="ru-RU" smtClean="0"/>
              <a:pPr/>
              <a:t>18</a:t>
            </a:fld>
            <a:r>
              <a:rPr lang="en-US" dirty="0" smtClean="0"/>
              <a:t>/17</a:t>
            </a:r>
            <a:endParaRPr lang="ru-RU" dirty="0"/>
          </a:p>
        </p:txBody>
      </p:sp>
      <p:pic>
        <p:nvPicPr>
          <p:cNvPr id="1027" name="Picture 3" descr="C:\Users\Полина\Desktop\Проект_алгоритмы\diag_methods.drawi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785794"/>
            <a:ext cx="1892316" cy="5719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97400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57252" y="2143116"/>
            <a:ext cx="7772400" cy="1470025"/>
          </a:xfrm>
        </p:spPr>
        <p:txBody>
          <a:bodyPr>
            <a:normAutofit/>
          </a:bodyPr>
          <a:lstStyle/>
          <a:p>
            <a:r>
              <a:rPr lang="ru-RU" sz="3500" dirty="0" smtClean="0"/>
              <a:t>Спасибо за внимание!</a:t>
            </a:r>
            <a:endParaRPr lang="ru-RU" sz="35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97608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1430</Words>
  <Application>Microsoft Office PowerPoint</Application>
  <PresentationFormat>Экран (4:3)</PresentationFormat>
  <Paragraphs>251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Стоимость резервирования электроэнергии. Итоговые методы решения задачи</vt:lpstr>
      <vt:lpstr>Цель и задачи</vt:lpstr>
      <vt:lpstr>Метод технического расчёта гибридной системы энергоснабжения</vt:lpstr>
      <vt:lpstr>Сравнение с альтернативными техническими методами</vt:lpstr>
      <vt:lpstr>База данных</vt:lpstr>
      <vt:lpstr>Обработка данных </vt:lpstr>
      <vt:lpstr>Метод почасового расчёта солнечной генерации и энергобаланса</vt:lpstr>
      <vt:lpstr> </vt:lpstr>
      <vt:lpstr>Метод анализа надёжности резервирования</vt:lpstr>
      <vt:lpstr> </vt:lpstr>
      <vt:lpstr>Слайд 11</vt:lpstr>
      <vt:lpstr>Сравнение с альтернативными методами надёжности</vt:lpstr>
      <vt:lpstr>Метод экономической оценки проекта</vt:lpstr>
      <vt:lpstr> </vt:lpstr>
      <vt:lpstr> </vt:lpstr>
      <vt:lpstr>Сравнение с альтернативными экономическими методами</vt:lpstr>
      <vt:lpstr>Входные данные</vt:lpstr>
      <vt:lpstr>Блок-схема методов</vt:lpstr>
      <vt:lpstr>Спасибо за внимание!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Баранова Ольга Владимировна</dc:creator>
  <cp:lastModifiedBy>Полина</cp:lastModifiedBy>
  <cp:revision>99</cp:revision>
  <dcterms:created xsi:type="dcterms:W3CDTF">2015-06-15T11:22:03Z</dcterms:created>
  <dcterms:modified xsi:type="dcterms:W3CDTF">2026-03-31T08:50:41Z</dcterms:modified>
</cp:coreProperties>
</file>